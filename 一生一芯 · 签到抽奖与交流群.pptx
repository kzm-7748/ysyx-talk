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8" r:id="rId4"/>
    <p:sldId id="259" r:id="rId6"/>
    <p:sldId id="257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会务专用：抽奖环节投屏页。左侧是签到二维码，右侧是奖品清单和特等奖大图。主持人现场抽奖，抽完在微信群/口头公布名单。奖品数量：雨伞1、帆布袋3、钥匙扣5、贴纸5。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24" y="6356350"/>
            <a:ext cx="2133711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363" y="6356350"/>
            <a:ext cx="289575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541" y="6356350"/>
            <a:ext cx="2133711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3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1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0" y="635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>
                    <a:alpha val="90196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现场奖品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17780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 txBox="1"/>
          <p:nvPr/>
        </p:nvSpPr>
        <p:spPr>
          <a:xfrm>
            <a:off x="762000" y="3683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雨伞 × 1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 l="9772" r="9772"/>
          <a:stretch>
            <a:fillRect/>
          </a:stretch>
        </p:blipFill>
        <p:spPr>
          <a:xfrm>
            <a:off x="3302000" y="17780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 txBox="1"/>
          <p:nvPr/>
        </p:nvSpPr>
        <p:spPr>
          <a:xfrm>
            <a:off x="3048000" y="3683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帆布袋 × 3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2499" r="12500"/>
          <a:stretch>
            <a:fillRect/>
          </a:stretch>
        </p:blipFill>
        <p:spPr>
          <a:xfrm>
            <a:off x="5588000" y="17780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 txBox="1"/>
          <p:nvPr/>
        </p:nvSpPr>
        <p:spPr>
          <a:xfrm>
            <a:off x="5334000" y="3683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钥匙扣 × 5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 l="12500" r="12499"/>
          <a:stretch>
            <a:fillRect/>
          </a:stretch>
        </p:blipFill>
        <p:spPr>
          <a:xfrm>
            <a:off x="7874000" y="17780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 txBox="1"/>
          <p:nvPr/>
        </p:nvSpPr>
        <p:spPr>
          <a:xfrm>
            <a:off x="7620000" y="3683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贴纸 × 5</a:t>
            </a:r>
            <a:endParaRPr lang="en-US" sz="1100"/>
          </a:p>
        </p:txBody>
      </p:sp>
      <p:sp>
        <p:nvSpPr>
          <p:cNvPr id="11" name="AutoShape 11"/>
          <p:cNvSpPr txBox="1"/>
          <p:nvPr/>
        </p:nvSpPr>
        <p:spPr>
          <a:xfrm>
            <a:off x="0" y="50800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共 14 份奖品，签到同学均有机会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8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A1014"/>
              </a:gs>
              <a:gs pos="100000">
                <a:srgbClr val="0E151C"/>
              </a:gs>
            </a:gsLst>
            <a:lin ang="6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8" y="0"/>
            <a:ext cx="12191969" cy="32004"/>
          </a:xfrm>
          <a:prstGeom prst="rect">
            <a:avLst/>
          </a:prstGeom>
          <a:solidFill>
            <a:srgbClr val="B0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701" y="658368"/>
            <a:ext cx="640080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60">
                <a:solidFill>
                  <a:srgbClr val="B03A2E"/>
                </a:solidFill>
                <a:latin typeface="微软雅黑" panose="020B0503020204020204" charset="-122"/>
              </a:rPr>
              <a:t>LUCKY DRAW · 现场抽奖</a:t>
            </a:r>
            <a:endParaRPr sz="1200" b="1" spc="26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86701" y="1005840"/>
            <a:ext cx="73152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spc="150">
                <a:solidFill>
                  <a:srgbClr val="E8E4DA"/>
                </a:solidFill>
                <a:latin typeface="思源宋体"/>
              </a:rPr>
              <a:t>扫一扫，参与抽奖</a:t>
            </a:r>
            <a:endParaRPr sz="4000" b="1" spc="150">
              <a:solidFill>
                <a:srgbClr val="E8E4DA"/>
              </a:solidFill>
              <a:latin typeface="思源宋体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86702" y="1901952"/>
            <a:ext cx="566928" cy="3200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702" y="2240280"/>
            <a:ext cx="2514600" cy="2514600"/>
          </a:xfrm>
          <a:prstGeom prst="roundRect">
            <a:avLst>
              <a:gd name="adj" fmla="val 4727"/>
            </a:avLst>
          </a:prstGeom>
          <a:solidFill>
            <a:srgbClr val="FFFFFF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702" y="4864608"/>
            <a:ext cx="2514600" cy="191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>
                <a:solidFill>
                  <a:srgbClr val="E8E4DA"/>
                </a:solidFill>
                <a:latin typeface="微软雅黑" panose="020B0503020204020204" charset="-122"/>
              </a:rPr>
              <a:t>微信扫码 · 填写姓名签到</a:t>
            </a:r>
            <a:endParaRPr sz="1250" b="1">
              <a:solidFill>
                <a:srgbClr val="E8E4DA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6702" y="5175504"/>
            <a:ext cx="2514600" cy="168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4A4E52"/>
                </a:solidFill>
                <a:latin typeface="微软雅黑" panose="020B0503020204020204" charset="-122"/>
              </a:rPr>
              <a:t>填完即参与抽奖</a:t>
            </a:r>
            <a:endParaRPr sz="1100" b="0">
              <a:solidFill>
                <a:srgbClr val="4A4E52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12198" y="2240280"/>
            <a:ext cx="384048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spc="150">
                <a:solidFill>
                  <a:srgbClr val="B03A2E"/>
                </a:solidFill>
                <a:latin typeface="微软雅黑" panose="020B0503020204020204" charset="-122"/>
              </a:rPr>
              <a:t>本场奖品</a:t>
            </a:r>
            <a:endParaRPr sz="1300" b="1" spc="150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612198" y="2615184"/>
            <a:ext cx="5120640" cy="676656"/>
          </a:xfrm>
          <a:prstGeom prst="roundRect">
            <a:avLst>
              <a:gd name="adj" fmla="val 13513"/>
            </a:avLst>
          </a:prstGeom>
          <a:solidFill>
            <a:srgbClr val="FFFFFF">
              <a:alpha val="5000"/>
            </a:srgbClr>
          </a:solidFill>
          <a:ln w="10160">
            <a:solidFill>
              <a:srgbClr val="4A4E52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pic>
        <p:nvPicPr>
          <p:cNvPr id="13" name="Picture 12" descr="雨伞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638" y="2679191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438" y="2706624"/>
            <a:ext cx="1371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8E4DA"/>
                </a:solidFill>
                <a:latin typeface="微软雅黑" panose="020B0503020204020204" charset="-122"/>
              </a:rPr>
              <a:t>雨伞</a:t>
            </a:r>
            <a:endParaRPr sz="1450" b="1">
              <a:solidFill>
                <a:srgbClr val="E8E4DA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89438" y="2999232"/>
            <a:ext cx="13716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A4E52"/>
                </a:solidFill>
                <a:latin typeface="微软雅黑" panose="020B0503020204020204" charset="-122"/>
              </a:rPr>
              <a:t>三等奖</a:t>
            </a:r>
            <a:endParaRPr sz="1000" b="0">
              <a:solidFill>
                <a:srgbClr val="4A4E5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61038" y="2761488"/>
            <a:ext cx="1097280" cy="3384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8C8A82"/>
                </a:solidFill>
                <a:latin typeface="微软雅黑" panose="020B0503020204020204" charset="-122"/>
              </a:rPr>
              <a:t>×</a:t>
            </a:r>
            <a:r>
              <a:rPr sz="2200" b="1">
                <a:solidFill>
                  <a:srgbClr val="B03A2E"/>
                </a:solidFill>
                <a:latin typeface="Bahnschrift" panose="020B0502040204020203"/>
              </a:rPr>
              <a:t>1</a:t>
            </a:r>
            <a:endParaRPr sz="2200" b="1">
              <a:solidFill>
                <a:srgbClr val="B03A2E"/>
              </a:solidFill>
              <a:latin typeface="Bahnschrift" panose="020B0502040204020203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612198" y="3401568"/>
            <a:ext cx="5120640" cy="676656"/>
          </a:xfrm>
          <a:prstGeom prst="roundRect">
            <a:avLst>
              <a:gd name="adj" fmla="val 13513"/>
            </a:avLst>
          </a:prstGeom>
          <a:solidFill>
            <a:srgbClr val="FFFFFF">
              <a:alpha val="5000"/>
            </a:srgbClr>
          </a:solidFill>
          <a:ln w="10160">
            <a:solidFill>
              <a:srgbClr val="4A4E52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pic>
        <p:nvPicPr>
          <p:cNvPr id="18" name="Picture 17" descr="帆布包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638" y="3465575"/>
            <a:ext cx="548640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89438" y="3493008"/>
            <a:ext cx="1371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8E4DA"/>
                </a:solidFill>
                <a:latin typeface="微软雅黑" panose="020B0503020204020204" charset="-122"/>
              </a:rPr>
              <a:t>帆布袋</a:t>
            </a:r>
            <a:endParaRPr sz="1450" b="1">
              <a:solidFill>
                <a:srgbClr val="E8E4DA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89438" y="3785615"/>
            <a:ext cx="13716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A4E52"/>
                </a:solidFill>
                <a:latin typeface="微软雅黑" panose="020B0503020204020204" charset="-122"/>
              </a:rPr>
              <a:t>二等奖</a:t>
            </a:r>
            <a:endParaRPr sz="1000" b="0">
              <a:solidFill>
                <a:srgbClr val="4A4E52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761038" y="3547872"/>
            <a:ext cx="1097280" cy="3384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8C8A82"/>
                </a:solidFill>
                <a:latin typeface="微软雅黑" panose="020B0503020204020204" charset="-122"/>
              </a:rPr>
              <a:t>×</a:t>
            </a:r>
            <a:r>
              <a:rPr sz="2200" b="1">
                <a:solidFill>
                  <a:srgbClr val="B03A2E"/>
                </a:solidFill>
                <a:latin typeface="Bahnschrift" panose="020B0502040204020203"/>
              </a:rPr>
              <a:t>3</a:t>
            </a:r>
            <a:endParaRPr sz="2200" b="1">
              <a:solidFill>
                <a:srgbClr val="B03A2E"/>
              </a:solidFill>
              <a:latin typeface="Bahnschrift" panose="020B0502040204020203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612198" y="4187952"/>
            <a:ext cx="5120640" cy="676656"/>
          </a:xfrm>
          <a:prstGeom prst="roundRect">
            <a:avLst>
              <a:gd name="adj" fmla="val 13513"/>
            </a:avLst>
          </a:prstGeom>
          <a:solidFill>
            <a:srgbClr val="FFFFFF">
              <a:alpha val="5000"/>
            </a:srgbClr>
          </a:solidFill>
          <a:ln w="10160">
            <a:solidFill>
              <a:srgbClr val="4A4E52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pic>
        <p:nvPicPr>
          <p:cNvPr id="23" name="Picture 22" descr="钥匙扣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638" y="4251960"/>
            <a:ext cx="548640" cy="5486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9438" y="4279392"/>
            <a:ext cx="1371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8E4DA"/>
                </a:solidFill>
                <a:latin typeface="微软雅黑" panose="020B0503020204020204" charset="-122"/>
              </a:rPr>
              <a:t>钥匙扣</a:t>
            </a:r>
            <a:endParaRPr sz="1450" b="1">
              <a:solidFill>
                <a:srgbClr val="E8E4DA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89438" y="4572000"/>
            <a:ext cx="13716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A4E52"/>
                </a:solidFill>
                <a:latin typeface="微软雅黑" panose="020B0503020204020204" charset="-122"/>
              </a:rPr>
              <a:t>一等奖</a:t>
            </a:r>
            <a:endParaRPr sz="1000" b="0">
              <a:solidFill>
                <a:srgbClr val="4A4E52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761038" y="4334256"/>
            <a:ext cx="1097280" cy="3384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8C8A82"/>
                </a:solidFill>
                <a:latin typeface="微软雅黑" panose="020B0503020204020204" charset="-122"/>
              </a:rPr>
              <a:t>×</a:t>
            </a:r>
            <a:r>
              <a:rPr sz="2200" b="1">
                <a:solidFill>
                  <a:srgbClr val="B03A2E"/>
                </a:solidFill>
                <a:latin typeface="Bahnschrift" panose="020B0502040204020203"/>
              </a:rPr>
              <a:t>5</a:t>
            </a:r>
            <a:endParaRPr sz="2200" b="1">
              <a:solidFill>
                <a:srgbClr val="B03A2E"/>
              </a:solidFill>
              <a:latin typeface="Bahnschrift" panose="020B0502040204020203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612198" y="4974336"/>
            <a:ext cx="5120640" cy="676656"/>
          </a:xfrm>
          <a:prstGeom prst="roundRect">
            <a:avLst>
              <a:gd name="adj" fmla="val 13513"/>
            </a:avLst>
          </a:prstGeom>
          <a:solidFill>
            <a:srgbClr val="FFFFFF">
              <a:alpha val="5000"/>
            </a:srgbClr>
          </a:solidFill>
          <a:ln w="10160">
            <a:solidFill>
              <a:srgbClr val="4A4E52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pic>
        <p:nvPicPr>
          <p:cNvPr id="28" name="Picture 27" descr="保温杯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638" y="5038344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89438" y="5065775"/>
            <a:ext cx="13716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8E4DA"/>
                </a:solidFill>
                <a:latin typeface="微软雅黑" panose="020B0503020204020204" charset="-122"/>
              </a:rPr>
              <a:t>贴纸</a:t>
            </a:r>
            <a:endParaRPr sz="1450" b="1">
              <a:solidFill>
                <a:srgbClr val="E8E4DA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389438" y="5358383"/>
            <a:ext cx="13716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A4E52"/>
                </a:solidFill>
                <a:latin typeface="微软雅黑" panose="020B0503020204020204" charset="-122"/>
              </a:rPr>
              <a:t>参与奖</a:t>
            </a:r>
            <a:endParaRPr sz="1000" b="0">
              <a:solidFill>
                <a:srgbClr val="4A4E52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761038" y="5120640"/>
            <a:ext cx="1097280" cy="3384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8C8A82"/>
                </a:solidFill>
                <a:latin typeface="微软雅黑" panose="020B0503020204020204" charset="-122"/>
              </a:rPr>
              <a:t>×</a:t>
            </a:r>
            <a:r>
              <a:rPr sz="2200" b="1">
                <a:solidFill>
                  <a:srgbClr val="B03A2E"/>
                </a:solidFill>
                <a:latin typeface="Bahnschrift" panose="020B0502040204020203"/>
              </a:rPr>
              <a:t>5</a:t>
            </a:r>
            <a:endParaRPr sz="2200" b="1">
              <a:solidFill>
                <a:srgbClr val="B03A2E"/>
              </a:solidFill>
              <a:latin typeface="Bahnschrift" panose="020B0502040204020203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915718" y="2240280"/>
            <a:ext cx="2487168" cy="3310128"/>
          </a:xfrm>
          <a:prstGeom prst="roundRect">
            <a:avLst>
              <a:gd name="adj" fmla="val 477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B03A2E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</a:p>
        </p:txBody>
      </p:sp>
      <p:pic>
        <p:nvPicPr>
          <p:cNvPr id="33" name="Picture 32" descr="雨伞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1166" y="2432304"/>
            <a:ext cx="2176272" cy="21762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915718" y="4754880"/>
            <a:ext cx="2487168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B03A2E"/>
                </a:solidFill>
                <a:latin typeface="微软雅黑" panose="020B0503020204020204" charset="-122"/>
              </a:rPr>
              <a:t>特等奖 · 雨伞</a:t>
            </a:r>
            <a:endParaRPr sz="1300" b="1">
              <a:solidFill>
                <a:srgbClr val="B03A2E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915718" y="5084064"/>
            <a:ext cx="2487168" cy="168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8C8A82"/>
                </a:solidFill>
                <a:latin typeface="微软雅黑" panose="020B0503020204020204" charset="-122"/>
              </a:rPr>
              <a:t>共 1 把</a:t>
            </a:r>
            <a:endParaRPr sz="1100" b="0">
              <a:solidFill>
                <a:srgbClr val="8C8A82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86701" y="5870448"/>
            <a:ext cx="106070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8C8A82"/>
                </a:solidFill>
                <a:latin typeface="微软雅黑" panose="020B0503020204020204" charset="-122"/>
              </a:rPr>
              <a:t>奖品由「一生一芯」项目组提供  ·  按到场人数比例发放  ·  中奖名单稍后公布</a:t>
            </a:r>
            <a:endParaRPr sz="1200" b="0">
              <a:solidFill>
                <a:srgbClr val="8C8A82"/>
              </a:solidFill>
              <a:latin typeface="微软雅黑" panose="020B0503020204020204" charset="-122"/>
            </a:endParaRPr>
          </a:p>
        </p:txBody>
      </p:sp>
      <p:pic>
        <p:nvPicPr>
          <p:cNvPr id="37" name="Picture 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61048" y="2254250"/>
            <a:ext cx="2540000" cy="2540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  <p:transition spd="slow" advClick="0" advTm="20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01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0" y="1016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>
                    <a:alpha val="90196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加入交流群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0" y="17780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50196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关注一生一芯校内学习动态，获取开源资料</a:t>
            </a:r>
            <a:endParaRPr lang="en-US" sz="11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8700" y="2355215"/>
            <a:ext cx="2514600" cy="2514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204</Words>
  <Application>WPS 演示</Application>
  <PresentationFormat/>
  <Paragraphs>56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宋体</vt:lpstr>
      <vt:lpstr>Wingdings</vt:lpstr>
      <vt:lpstr>Arial</vt:lpstr>
      <vt:lpstr>Noto Serif SC</vt:lpstr>
      <vt:lpstr>微软雅黑</vt:lpstr>
      <vt:lpstr>Arial Unicode MS</vt:lpstr>
      <vt:lpstr>思源宋体</vt:lpstr>
      <vt:lpstr>Bahnschrift</vt:lpstr>
      <vt:lpstr>Office 主题​​</vt:lpstr>
      <vt:lpstr>默认主题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K</cp:lastModifiedBy>
  <cp:revision>3</cp:revision>
  <dcterms:created xsi:type="dcterms:W3CDTF">2026-10-16T16:51:00Z</dcterms:created>
  <dcterms:modified xsi:type="dcterms:W3CDTF">2026-10-16T19:47:26Z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C4AAD73412A34399A805B6529056E7A7_12</vt:lpwstr>
  </property>
  <property fmtid="{D5CDD505-2E9C-101B-9397-08002B2CF9AE}" pid="3" name="KSOProductBuildVer">
    <vt:lpwstr>2052-12.1.0.23125</vt:lpwstr>
  </property>
</Properties>
</file>